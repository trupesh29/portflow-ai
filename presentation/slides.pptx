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192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Friend: introduce PortFlow AI and the confirmed team. Synthetic-data forecasting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Friend: explain interacting arrivals, handling capacity, and vessel delays. No measured savings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Friend: contrast fragmented monitoring with scenario visibility and trained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Friend: identify this image as an illustrative workflow mockup, not the running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Friend: proposed journey. Uploads, runtime CP-SAT, live Bob MCP, and persisted approvals are not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Friend: working inference versus planned solver and MCP. Hand over for the actual live demo. See demo/recording-script.md.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Friend after demo: describe team-reported Bob development use and supervisor control. Exact tasks/evidence still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static planning preview. Diagram values are illustrative, not computed savings. Skip in a short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Architecture: React/FastAPI, trained Gradient Boosting, optional database, planned solver/MCP.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Potential impact only; real-port validation and runtime solver are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show actual local/repository links. Video upload and submission metadata/evidence remain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://localhost:5173" TargetMode="External"/><Relationship Id="rId4" Type="http://schemas.openxmlformats.org/officeDocument/2006/relationships/hyperlink" Target="https://github.com/Trupesh29/PortFlow-AI" TargetMode="Externa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9767" y="4405312"/>
            <a:ext cx="8506046" cy="1607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0">
                <a:solidFill>
                  <a:srgbClr val="071A34"/>
                </a:solidFill>
                <a:latin typeface="Arial"/>
              </a:rPr>
              <a:t>Congestion forecasting and scenario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0">
                <a:solidFill>
                  <a:srgbClr val="071A34"/>
                </a:solidFill>
                <a:latin typeface="Arial"/>
              </a:rPr>
              <a:t>simulation for informed port planning.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0">
                <a:solidFill>
                  <a:srgbClr val="071A34"/>
                </a:solidFill>
                <a:latin typeface="Arial"/>
              </a:rPr>
              <a:t>Synthetic-data prototype.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767" y="7524750"/>
            <a:ext cx="10041860" cy="1226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>
                <a:solidFill>
                  <a:srgbClr val="071A34"/>
                </a:solidFill>
                <a:latin typeface="Arial"/>
              </a:rPr>
              <a:t>IBM Bobathon 2026  |  Team: The Watson Four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>
                <a:solidFill>
                  <a:srgbClr val="071A34"/>
                </a:solidFill>
                <a:latin typeface="Arial"/>
              </a:rPr>
              <a:t>Lead: Deep Makwana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>
                <a:solidFill>
                  <a:srgbClr val="071A34"/>
                </a:solidFill>
                <a:latin typeface="Arial"/>
              </a:rPr>
              <a:t>Members: Manav Kansagara, Smit Kansagara, Trupesh Hingrajiya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360837" y="4000500"/>
            <a:ext cx="5080000" cy="5357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2A6B4"/>
                </a:solidFill>
                <a:latin typeface="Arial"/>
              </a:rPr>
              <a:t>Scenario congestion indicators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9767" y="8548687"/>
            <a:ext cx="14649302" cy="3571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900" b="0">
                <a:solidFill>
                  <a:srgbClr val="526477"/>
                </a:solidFill>
                <a:latin typeface="Arial"/>
              </a:rPr>
              <a:t>Illustrative workflow mockup — see the live demo for actual application output.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767" y="3095625"/>
            <a:ext cx="3485116" cy="1285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0">
                <a:solidFill>
                  <a:srgbClr val="071A34"/>
                </a:solidFill>
                <a:latin typeface="Arial"/>
              </a:rPr>
              <a:t>• Combines synthetic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0">
                <a:solidFill>
                  <a:srgbClr val="071A34"/>
                </a:solidFill>
                <a:latin typeface="Arial"/>
              </a:rPr>
              <a:t>  schedules with ML.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767" y="4429125"/>
            <a:ext cx="3485116" cy="11191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0">
                <a:solidFill>
                  <a:srgbClr val="071A34"/>
                </a:solidFill>
                <a:latin typeface="Arial"/>
              </a:rPr>
              <a:t>• Visualizes berth and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0">
                <a:solidFill>
                  <a:srgbClr val="071A34"/>
                </a:solidFill>
                <a:latin typeface="Arial"/>
              </a:rPr>
              <a:t>  crane availability.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767" y="5476875"/>
            <a:ext cx="3485116" cy="19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0">
                <a:solidFill>
                  <a:srgbClr val="071A34"/>
                </a:solidFill>
                <a:latin typeface="Arial"/>
              </a:rPr>
              <a:t>• Supports informed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0">
                <a:solidFill>
                  <a:srgbClr val="071A34"/>
                </a:solidFill>
                <a:latin typeface="Arial"/>
              </a:rPr>
              <a:t>  planning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08837" y="714375"/>
            <a:ext cx="14708372" cy="25598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6400" b="1">
                <a:solidFill>
                  <a:srgbClr val="071A34"/>
                </a:solidFill>
                <a:latin typeface="Arial"/>
              </a:rPr>
              <a:t>The proposed planning journey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6400" b="1">
                <a:solidFill>
                  <a:srgbClr val="071A34"/>
                </a:solidFill>
                <a:latin typeface="Arial"/>
              </a:rPr>
              <a:t>takes five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92372" y="5595937"/>
            <a:ext cx="2646325" cy="1571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Current input: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seeded synthetic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schedules and resources.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51348" y="5595937"/>
            <a:ext cx="2634511" cy="1571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API validation and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feature preparation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are implemented.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33953" y="5595937"/>
            <a:ext cx="2634511" cy="1571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Trained models predict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waiting time and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congestion probability.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4744" y="5595937"/>
            <a:ext cx="2658139" cy="16906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Roadmap: CP-SAT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assignments and live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Bob explanations.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Current UI is static.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463720" y="5595937"/>
            <a:ext cx="2858976" cy="16906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Demo approval changes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local browser state.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Persisted operational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plans are future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9767" y="476250"/>
            <a:ext cx="14767441" cy="1654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800" b="1">
                <a:solidFill>
                  <a:srgbClr val="071A34"/>
                </a:solidFill>
                <a:latin typeface="Arial"/>
              </a:rPr>
              <a:t>From working predictions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800" b="1">
                <a:solidFill>
                  <a:srgbClr val="071A34"/>
                </a:solidFill>
                <a:latin typeface="Arial"/>
              </a:rPr>
              <a:t>to planned operational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697" y="4048125"/>
            <a:ext cx="2244651" cy="2083593"/>
          </a:xfrm>
          <a:prstGeom prst="rect">
            <a:avLst/>
          </a:prstGeom>
          <a:solidFill>
            <a:srgbClr val="06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Synthetic vessel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schedules + berth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and crane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0930" y="4036218"/>
            <a:ext cx="2256465" cy="2357437"/>
          </a:xfrm>
          <a:prstGeom prst="rect">
            <a:avLst/>
          </a:prstGeom>
          <a:solidFill>
            <a:srgbClr val="08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000" b="0">
                <a:solidFill>
                  <a:srgbClr val="071A34"/>
                </a:solidFill>
                <a:latin typeface="Arial"/>
              </a:rPr>
              <a:t>scikit-learn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000" b="0">
                <a:solidFill>
                  <a:srgbClr val="071A34"/>
                </a:solidFill>
                <a:latin typeface="Arial"/>
              </a:rPr>
              <a:t>Gradient Boosting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000" b="0">
                <a:solidFill>
                  <a:srgbClr val="071A34"/>
                </a:solidFill>
                <a:latin typeface="Arial"/>
              </a:rPr>
              <a:t>models: congestion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000" b="0">
                <a:solidFill>
                  <a:srgbClr val="071A34"/>
                </a:solidFill>
                <a:latin typeface="Arial"/>
              </a:rPr>
              <a:t>probability and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000" b="0">
                <a:solidFill>
                  <a:srgbClr val="071A34"/>
                </a:solidFill>
                <a:latin typeface="Arial"/>
              </a:rPr>
              <a:t>vessel waiting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8919534" y="2893218"/>
            <a:ext cx="2445488" cy="952500"/>
          </a:xfrm>
          <a:prstGeom prst="rect">
            <a:avLst/>
          </a:prstGeom>
          <a:solidFill>
            <a:srgbClr val="2B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Planning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(roadmap)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19534" y="4095750"/>
            <a:ext cx="2445488" cy="2214562"/>
          </a:xfrm>
          <a:prstGeom prst="rect">
            <a:avLst/>
          </a:prstGeom>
          <a:solidFill>
            <a:srgbClr val="2B6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Planned: OR-Tools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CP-SAT berth and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crane assignments.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Current interface: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static demo.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12651" y="3786187"/>
            <a:ext cx="2386418" cy="2488406"/>
          </a:xfrm>
          <a:prstGeom prst="rect">
            <a:avLst/>
          </a:prstGeom>
          <a:solidFill>
            <a:srgbClr val="08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071A34"/>
                </a:solidFill>
                <a:latin typeface="Arial"/>
              </a:rPr>
              <a:t>Bob used during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071A34"/>
                </a:solidFill>
                <a:latin typeface="Arial"/>
              </a:rPr>
              <a:t>development.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071A34"/>
                </a:solidFill>
                <a:latin typeface="Arial"/>
              </a:rPr>
              <a:t>Live MCP explanations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071A34"/>
                </a:solidFill>
                <a:latin typeface="Arial"/>
              </a:rPr>
              <a:t>are planned.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071A34"/>
                </a:solidFill>
                <a:latin typeface="Arial"/>
              </a:rPr>
              <a:t>Copilot responses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071A34"/>
                </a:solidFill>
                <a:latin typeface="Arial"/>
              </a:rPr>
              <a:t>are predefined.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945116" y="7393781"/>
            <a:ext cx="14389395" cy="892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071A34"/>
                </a:solidFill>
                <a:latin typeface="Arial"/>
              </a:rPr>
              <a:t>Current: scenario calculations and trained prediction inference.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071A34"/>
                </a:solidFill>
                <a:latin typeface="Arial"/>
              </a:rPr>
              <a:t>Next: runtime scheduling and live IBM Bob MCP explanations.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6139" y="416718"/>
            <a:ext cx="15121860" cy="9644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300" b="1">
                <a:solidFill>
                  <a:srgbClr val="071A34"/>
                </a:solidFill>
                <a:latin typeface="Arial"/>
              </a:rPr>
              <a:t>Design principle: models predict. Supervisors decide.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341395" y="2143125"/>
            <a:ext cx="4382976" cy="7024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400" b="1">
                <a:solidFill>
                  <a:srgbClr val="071A34"/>
                </a:solidFill>
                <a:latin typeface="Arial"/>
              </a:rPr>
              <a:t>Current build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3209" y="3393281"/>
            <a:ext cx="4359348" cy="1095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071A34"/>
                </a:solidFill>
                <a:latin typeface="Arial"/>
              </a:rPr>
              <a:t>Trained models generate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071A34"/>
                </a:solidFill>
                <a:latin typeface="Arial"/>
              </a:rPr>
              <a:t>waiting-time and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071A34"/>
                </a:solidFill>
                <a:latin typeface="Arial"/>
              </a:rPr>
              <a:t>congestion predictions.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53209" y="5155406"/>
            <a:ext cx="4359348" cy="12977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071A34"/>
                </a:solidFill>
                <a:latin typeface="Arial"/>
              </a:rPr>
              <a:t>IBM Bob used in development;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071A34"/>
                </a:solidFill>
                <a:latin typeface="Arial"/>
              </a:rPr>
              <a:t>live MCP explanations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071A34"/>
                </a:solidFill>
                <a:latin typeface="Arial"/>
              </a:rPr>
              <a:t>are planned.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209" y="7024687"/>
            <a:ext cx="4359348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071A34"/>
                </a:solidFill>
                <a:latin typeface="Arial"/>
              </a:rPr>
              <a:t>Supervisor approval is a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071A34"/>
                </a:solidFill>
                <a:latin typeface="Arial"/>
              </a:rPr>
              <a:t>local demo workflow.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071A34"/>
                </a:solidFill>
                <a:latin typeface="Arial"/>
              </a:rPr>
              <a:t>No equipment is dispatched.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2511" y="464343"/>
            <a:ext cx="14885581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>
                <a:solidFill>
                  <a:srgbClr val="071A34"/>
                </a:solidFill>
                <a:latin typeface="Arial"/>
              </a:rPr>
              <a:t>Planning workflow preview — static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325" y="1416843"/>
            <a:ext cx="14885581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0">
                <a:solidFill>
                  <a:srgbClr val="071A34"/>
                </a:solidFill>
                <a:latin typeface="Arial"/>
              </a:rPr>
              <a:t>Illustration of the proposed planning and explanation workflow.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0">
                <a:solidFill>
                  <a:srgbClr val="071A34"/>
                </a:solidFill>
                <a:latin typeface="Arial"/>
              </a:rPr>
              <a:t>Not runtime solver output or measured operational savings.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23348" y="2678906"/>
            <a:ext cx="3709581" cy="428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1">
                <a:solidFill>
                  <a:srgbClr val="071A34"/>
                </a:solidFill>
                <a:latin typeface="Arial"/>
              </a:rPr>
              <a:t>Copilot preview (not connected)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6046" y="3238500"/>
            <a:ext cx="3603255" cy="1726406"/>
          </a:xfrm>
          <a:prstGeom prst="rect">
            <a:avLst/>
          </a:prstGeom>
          <a:solidFill>
            <a:srgbClr val="CD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071A34"/>
                </a:solidFill>
                <a:latin typeface="Arial"/>
              </a:rPr>
              <a:t>Illustrative explanation only.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071A34"/>
                </a:solidFill>
                <a:latin typeface="Arial"/>
              </a:rPr>
              <a:t>Live IBM Bob MCP is not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071A34"/>
                </a:solidFill>
                <a:latin typeface="Arial"/>
              </a:rPr>
              <a:t>connected, and a runtime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071A34"/>
                </a:solidFill>
                <a:latin typeface="Arial"/>
              </a:rPr>
              <a:t>solver has not generated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071A34"/>
                </a:solidFill>
                <a:latin typeface="Arial"/>
              </a:rPr>
              <a:t>these assignments.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43162" y="5298281"/>
            <a:ext cx="3154325" cy="631031"/>
          </a:xfrm>
          <a:prstGeom prst="rect">
            <a:avLst/>
          </a:prstGeom>
          <a:solidFill>
            <a:srgbClr val="E7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0">
                <a:solidFill>
                  <a:srgbClr val="071A34"/>
                </a:solidFill>
                <a:latin typeface="Arial"/>
              </a:rPr>
              <a:t>Example text only; no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0">
                <a:solidFill>
                  <a:srgbClr val="071A34"/>
                </a:solidFill>
                <a:latin typeface="Arial"/>
              </a:rPr>
              <a:t>operational benefit measured.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030790" y="3119437"/>
            <a:ext cx="2717209" cy="1226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0">
                <a:solidFill>
                  <a:srgbClr val="071A34"/>
                </a:solidFill>
                <a:latin typeface="Arial"/>
              </a:rPr>
              <a:t>Future: alternate routing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0">
                <a:solidFill>
                  <a:srgbClr val="071A34"/>
                </a:solidFill>
                <a:latin typeface="Arial"/>
              </a:rPr>
              <a:t>requires a runtime solver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0">
                <a:solidFill>
                  <a:srgbClr val="071A34"/>
                </a:solidFill>
                <a:latin typeface="Arial"/>
              </a:rPr>
              <a:t>and cost comparison.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030790" y="5060156"/>
            <a:ext cx="2717209" cy="12977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0">
                <a:solidFill>
                  <a:srgbClr val="071A34"/>
                </a:solidFill>
                <a:latin typeface="Arial"/>
              </a:rPr>
              <a:t>Synthetic waiting-time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0">
                <a:solidFill>
                  <a:srgbClr val="071A34"/>
                </a:solidFill>
                <a:latin typeface="Arial"/>
              </a:rPr>
              <a:t>estimates need real-port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0">
                <a:solidFill>
                  <a:srgbClr val="071A34"/>
                </a:solidFill>
                <a:latin typeface="Arial"/>
              </a:rPr>
              <a:t>uncertainty validation.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30790" y="7143750"/>
            <a:ext cx="2717209" cy="12144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0">
                <a:solidFill>
                  <a:srgbClr val="071A34"/>
                </a:solidFill>
                <a:latin typeface="Arial"/>
              </a:rPr>
              <a:t>Demo approval requires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0">
                <a:solidFill>
                  <a:srgbClr val="071A34"/>
                </a:solidFill>
                <a:latin typeface="Arial"/>
              </a:rPr>
              <a:t>confirmation but changes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0">
                <a:solidFill>
                  <a:srgbClr val="071A34"/>
                </a:solidFill>
                <a:latin typeface="Arial"/>
              </a:rPr>
              <a:t>local UI state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0651" y="595312"/>
            <a:ext cx="14767441" cy="857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900" b="1">
                <a:solidFill>
                  <a:srgbClr val="071A34"/>
                </a:solidFill>
                <a:latin typeface="Arial"/>
              </a:rPr>
              <a:t>Prototype architecture: working services and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5023" y="2952750"/>
            <a:ext cx="4394790" cy="511968"/>
          </a:xfrm>
          <a:prstGeom prst="rect">
            <a:avLst/>
          </a:prstGeom>
          <a:solidFill>
            <a:srgbClr val="20C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0">
                <a:solidFill>
                  <a:srgbClr val="071A34"/>
                </a:solidFill>
                <a:latin typeface="Arial"/>
              </a:rPr>
              <a:t>• React, Vite, TypeScript, Tailwind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0">
                <a:solidFill>
                  <a:srgbClr val="071A34"/>
                </a:solidFill>
                <a:latin typeface="Arial"/>
              </a:rPr>
              <a:t>• Custom charts and static berth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0465" y="4548187"/>
            <a:ext cx="4170325" cy="1214437"/>
          </a:xfrm>
          <a:prstGeom prst="rect">
            <a:avLst/>
          </a:prstGeom>
          <a:solidFill>
            <a:srgbClr val="32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• Python, FastAPI, Pydantic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• scikit-learn Gradient Boosting, NumPy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• OR-Tools scheduling: planned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• IBM Bob development; live MCP: planned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0465" y="6548437"/>
            <a:ext cx="4312093" cy="750093"/>
          </a:xfrm>
          <a:prstGeom prst="rect">
            <a:avLst/>
          </a:prstGeom>
          <a:solidFill>
            <a:srgbClr val="10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Optional PostgreSQL, SQLAlchemy, Alembic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Seeded synthetic schedules and resources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No confidential client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8790" y="821531"/>
            <a:ext cx="10632558" cy="14644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4400" b="1">
                <a:solidFill>
                  <a:srgbClr val="071A34"/>
                </a:solidFill>
                <a:latin typeface="Arial"/>
              </a:rPr>
              <a:t>Potential impact: earlier visibility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4400" b="1">
                <a:solidFill>
                  <a:srgbClr val="071A34"/>
                </a:solidFill>
                <a:latin typeface="Arial"/>
              </a:rPr>
              <a:t>and informed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4837" y="3059906"/>
            <a:ext cx="2445488" cy="916781"/>
          </a:xfrm>
          <a:prstGeom prst="rect">
            <a:avLst/>
          </a:prstGeom>
          <a:solidFill>
            <a:srgbClr val="2D6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Baseline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92465" y="3024187"/>
            <a:ext cx="4371162" cy="988218"/>
          </a:xfrm>
          <a:prstGeom prst="rect">
            <a:avLst/>
          </a:prstGeom>
          <a:solidFill>
            <a:srgbClr val="071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72-hour planning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visibility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228651" y="6274593"/>
            <a:ext cx="3957674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071A34"/>
                </a:solidFill>
                <a:latin typeface="Arial"/>
              </a:rPr>
              <a:t>Explore 72-hour synthetic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071A34"/>
                </a:solidFill>
                <a:latin typeface="Arial"/>
              </a:rPr>
              <a:t>scenarios and inspect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071A34"/>
                </a:solidFill>
                <a:latin typeface="Arial"/>
              </a:rPr>
              <a:t>upcoming resource pressure.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071A34"/>
                </a:solidFill>
                <a:latin typeface="Arial"/>
              </a:rPr>
              <a:t>Real-port validation is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071A34"/>
                </a:solidFill>
                <a:latin typeface="Arial"/>
              </a:rPr>
              <a:t>still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2325" y="6274593"/>
            <a:ext cx="396948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400" b="0">
                <a:solidFill>
                  <a:srgbClr val="071A34"/>
                </a:solidFill>
                <a:latin typeface="Arial"/>
              </a:rPr>
              <a:t>Inspect berth and crane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400" b="0">
                <a:solidFill>
                  <a:srgbClr val="071A34"/>
                </a:solidFill>
                <a:latin typeface="Arial"/>
              </a:rPr>
              <a:t>capacity. Runtime CP-SAT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400" b="0">
                <a:solidFill>
                  <a:srgbClr val="071A34"/>
                </a:solidFill>
                <a:latin typeface="Arial"/>
              </a:rPr>
              <a:t>is a next step. No measured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400" b="0">
                <a:solidFill>
                  <a:srgbClr val="071A34"/>
                </a:solidFill>
                <a:latin typeface="Arial"/>
              </a:rPr>
              <a:t>turnaround savings.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52372" y="6274593"/>
            <a:ext cx="396948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071A34"/>
                </a:solidFill>
                <a:latin typeface="Arial"/>
              </a:rPr>
              <a:t>Explicit confirmation is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071A34"/>
                </a:solidFill>
                <a:latin typeface="Arial"/>
              </a:rPr>
              <a:t>demonstrated in the UI.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071A34"/>
                </a:solidFill>
                <a:latin typeface="Arial"/>
              </a:rPr>
              <a:t>No automatic equipment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071A34"/>
                </a:solidFill>
                <a:latin typeface="Arial"/>
              </a:rPr>
              <a:t>dispatch or operational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071A34"/>
                </a:solidFill>
                <a:latin typeface="Arial"/>
              </a:rPr>
              <a:t>execution.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2465" y="583406"/>
            <a:ext cx="14814697" cy="2309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600" b="1">
                <a:solidFill>
                  <a:srgbClr val="071A34"/>
                </a:solidFill>
                <a:latin typeface="Arial"/>
              </a:rPr>
              <a:t>PortFlow AI: working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600" b="1">
                <a:solidFill>
                  <a:srgbClr val="071A34"/>
                </a:solidFill>
                <a:latin typeface="Arial"/>
              </a:rPr>
              <a:t>forecasting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618511" y="3536156"/>
            <a:ext cx="6202325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071A34"/>
                </a:solidFill>
                <a:latin typeface="Arial"/>
              </a:rPr>
              <a:t>Architecture and reproducible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8511" y="4583906"/>
            <a:ext cx="6202325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React + FastAPI dashboard and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8511" y="5619750"/>
            <a:ext cx="6202325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Trained waiting-time and congestion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18511" y="6691312"/>
            <a:ext cx="6202325" cy="5357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0">
                <a:solidFill>
                  <a:srgbClr val="071A34"/>
                </a:solidFill>
                <a:latin typeface="Arial"/>
              </a:rPr>
              <a:t>IBM Bob development use; evidence pending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096744" y="3536156"/>
            <a:ext cx="6190511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071A34"/>
                </a:solidFill>
                <a:latin typeface="Arial"/>
                <a:hlinkClick r:id="rId3"/>
              </a:rPr>
              <a:t>Local demo: localhost:5173 (not deployed)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6744" y="4583906"/>
            <a:ext cx="6190511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071A34"/>
                </a:solidFill>
                <a:latin typeface="Arial"/>
              </a:rPr>
              <a:t>Video: recording and upload pending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6744" y="5619750"/>
            <a:ext cx="6190511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071A34"/>
                </a:solidFill>
                <a:latin typeface="Arial"/>
                <a:hlinkClick r:id="rId4"/>
              </a:rPr>
              <a:t>Repo: github.com/Trupesh29/PortFlow-AI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6744" y="6667500"/>
            <a:ext cx="6190511" cy="500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000" b="0">
                <a:solidFill>
                  <a:srgbClr val="071A34"/>
                </a:solidFill>
                <a:latin typeface="Arial"/>
              </a:rPr>
              <a:t>Team: The Watson Four | Lead: Deep Makwana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604" y="7572375"/>
            <a:ext cx="14531162" cy="3690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22860" bIns="22860"/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800" b="0">
                <a:solidFill>
                  <a:srgbClr val="071A34"/>
                </a:solidFill>
                <a:latin typeface="Arial"/>
              </a:rPr>
              <a:t>Pending: real video URL, Bob evidence, and repository naming/template confirmation.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Manav Kansagara</dc:creator>
  <cp:lastModifiedBy>Manav Kansagra</cp:lastModifiedBy>
  <cp:revision>1</cp:revision>
  <dcterms:created xsi:type="dcterms:W3CDTF">2006-08-16T00:00:00Z</dcterms:created>
  <dcterms:modified xsi:type="dcterms:W3CDTF">2026-09-15T14:43:09Z</dcterms:modified>
</cp:coreProperties>
</file>